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438912"/>
            <a:ext cx="1091153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F2A4A"/>
                </a:solidFill>
                <a:latin typeface="Arial"/>
              </a:rPr>
              <a:t>A Self-Hostable Open-Source Geospatial Platform for Small Teams, with Natural Language Querying via MCP</a:t>
            </a:r>
          </a:p>
        </p:txBody>
      </p:sp>
      <p:sp>
        <p:nvSpPr>
          <p:cNvPr id="3" name="primary:subtitle"/>
          <p:cNvSpPr txBox="1"/>
          <p:nvPr/>
        </p:nvSpPr>
        <p:spPr>
          <a:xfrm>
            <a:off x="640080" y="2514600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7A7A"/>
                </a:solidFill>
                <a:latin typeface="Arial"/>
              </a:rPr>
              <a:t>Host · See · Ask</a:t>
            </a:r>
          </a:p>
        </p:txBody>
      </p:sp>
      <p:sp>
        <p:nvSpPr>
          <p:cNvPr id="4" name="primary:event"/>
          <p:cNvSpPr txBox="1"/>
          <p:nvPr/>
        </p:nvSpPr>
        <p:spPr>
          <a:xfrm>
            <a:off x="640080" y="3794760"/>
            <a:ext cx="5989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Arial"/>
              </a:rPr>
              <a:t>Noboru Otsuka, Geolonia</a:t>
            </a:r>
          </a:p>
          <a:p>
            <a:r>
              <a:rPr sz="2000" b="0">
                <a:solidFill>
                  <a:srgbClr val="222222"/>
                </a:solidFill>
                <a:latin typeface="Arial"/>
              </a:rPr>
              <a:t>FOSS4G 2026 Hiroshima</a:t>
            </a:r>
          </a:p>
          <a:p>
            <a:r>
              <a:rPr sz="2000" b="0">
                <a:solidFill>
                  <a:srgbClr val="222222"/>
                </a:solidFill>
                <a:latin typeface="Arial"/>
              </a:rPr>
              <a:t>2026-09-02 17:30 · Dahlia1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A small team may need its spatial data to do three jobs</a:t>
            </a:r>
          </a:p>
        </p:txBody>
      </p:sp>
      <p:sp>
        <p:nvSpPr>
          <p:cNvPr id="3" name="scope:label"/>
          <p:cNvSpPr txBox="1"/>
          <p:nvPr/>
        </p:nvSpPr>
        <p:spPr>
          <a:xfrm>
            <a:off x="640080" y="1170432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7A7A"/>
                </a:solidFill>
                <a:latin typeface="Arial"/>
              </a:rPr>
              <a:t>Hypothetical small-team context — not a measured deployment</a:t>
            </a:r>
          </a:p>
        </p:txBody>
      </p:sp>
      <p:sp>
        <p:nvSpPr>
          <p:cNvPr id="4" name="primary:need-1"/>
          <p:cNvSpPr/>
          <p:nvPr/>
        </p:nvSpPr>
        <p:spPr>
          <a:xfrm>
            <a:off x="640080" y="2212848"/>
            <a:ext cx="3456432" cy="1572768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0F2A4A"/>
                </a:solidFill>
                <a:latin typeface="Arial"/>
              </a:rPr>
              <a:t>Keep the team's spatial data</a:t>
            </a:r>
          </a:p>
        </p:txBody>
      </p:sp>
      <p:sp>
        <p:nvSpPr>
          <p:cNvPr id="5" name="primary:need-2"/>
          <p:cNvSpPr/>
          <p:nvPr/>
        </p:nvSpPr>
        <p:spPr>
          <a:xfrm>
            <a:off x="4366260" y="2212848"/>
            <a:ext cx="3456432" cy="1572768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0F2A4A"/>
                </a:solidFill>
                <a:latin typeface="Arial"/>
              </a:rPr>
              <a:t>See it on a map</a:t>
            </a:r>
          </a:p>
        </p:txBody>
      </p:sp>
      <p:sp>
        <p:nvSpPr>
          <p:cNvPr id="6" name="primary:need-3"/>
          <p:cNvSpPr/>
          <p:nvPr/>
        </p:nvSpPr>
        <p:spPr>
          <a:xfrm>
            <a:off x="8092440" y="2212848"/>
            <a:ext cx="3456432" cy="157276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1B7A7A"/>
                </a:solidFill>
                <a:latin typeface="Arial"/>
              </a:rPr>
              <a:t>Ask focused questions about it</a:t>
            </a:r>
          </a:p>
        </p:txBody>
      </p:sp>
      <p:cxnSp>
        <p:nvCxnSpPr>
          <p:cNvPr id="7" name="diagram:keep-to-see"/>
          <p:cNvCxnSpPr/>
          <p:nvPr/>
        </p:nvCxnSpPr>
        <p:spPr>
          <a:xfrm>
            <a:off x="4096512" y="2999232"/>
            <a:ext cx="269748" cy="0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8" name="diagram:see-to-ask"/>
          <p:cNvCxnSpPr/>
          <p:nvPr/>
        </p:nvCxnSpPr>
        <p:spPr>
          <a:xfrm>
            <a:off x="7822692" y="2999232"/>
            <a:ext cx="269748" cy="0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9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Three ways to meet the same need</a:t>
            </a:r>
          </a:p>
        </p:txBody>
      </p:sp>
      <p:sp>
        <p:nvSpPr>
          <p:cNvPr id="3" name="primary:trade-off-1"/>
          <p:cNvSpPr/>
          <p:nvPr/>
        </p:nvSpPr>
        <p:spPr>
          <a:xfrm>
            <a:off x="640080" y="1353312"/>
            <a:ext cx="3456432" cy="2377440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0F2A4A"/>
                </a:solidFill>
                <a:latin typeface="Arial"/>
              </a:rPr>
              <a:t>External service</a:t>
            </a:r>
          </a:p>
          <a:p>
            <a:pPr>
              <a:spcBef>
                <a:spcPts val="7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Provider-managed capabilities</a:t>
            </a:r>
          </a:p>
        </p:txBody>
      </p:sp>
      <p:sp>
        <p:nvSpPr>
          <p:cNvPr id="4" name="primary:trade-off-2"/>
          <p:cNvSpPr/>
          <p:nvPr/>
        </p:nvSpPr>
        <p:spPr>
          <a:xfrm>
            <a:off x="4366260" y="1353312"/>
            <a:ext cx="3456432" cy="2377440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0F2A4A"/>
                </a:solidFill>
                <a:latin typeface="Arial"/>
              </a:rPr>
              <a:t>Self-assembled stack</a:t>
            </a:r>
          </a:p>
          <a:p>
            <a:pPr>
              <a:spcBef>
                <a:spcPts val="7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Team selects and operates the components</a:t>
            </a:r>
          </a:p>
        </p:txBody>
      </p:sp>
      <p:sp>
        <p:nvSpPr>
          <p:cNvPr id="5" name="primary:trade-off-3"/>
          <p:cNvSpPr/>
          <p:nvPr/>
        </p:nvSpPr>
        <p:spPr>
          <a:xfrm>
            <a:off x="8092440" y="1353312"/>
            <a:ext cx="3456432" cy="237744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1B7A7A"/>
                </a:solidFill>
                <a:latin typeface="Arial"/>
              </a:rPr>
              <a:t>Assembled OSS platform</a:t>
            </a:r>
          </a:p>
          <a:p>
            <a:pPr>
              <a:spcBef>
                <a:spcPts val="7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One self-hostable system</a:t>
            </a:r>
          </a:p>
        </p:txBody>
      </p:sp>
      <p:sp>
        <p:nvSpPr>
          <p:cNvPr id="6" name="primary:design-position"/>
          <p:cNvSpPr/>
          <p:nvPr/>
        </p:nvSpPr>
        <p:spPr>
          <a:xfrm>
            <a:off x="640080" y="4160520"/>
            <a:ext cx="10911535" cy="123444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geo-base takes the assembled OSS position.</a:t>
            </a:r>
          </a:p>
          <a:p>
            <a:pPr algn="ctr">
              <a:spcBef>
                <a:spcPts val="3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Design position — not a market, cost, or ownership result</a:t>
            </a:r>
          </a:p>
        </p:txBody>
      </p:sp>
      <p:sp>
        <p:nvSpPr>
          <p:cNvPr id="7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geo-base assembles the core geospatial pieces</a:t>
            </a:r>
          </a:p>
        </p:txBody>
      </p:sp>
      <p:sp>
        <p:nvSpPr>
          <p:cNvPr id="3" name="scope:team-data"/>
          <p:cNvSpPr/>
          <p:nvPr/>
        </p:nvSpPr>
        <p:spPr>
          <a:xfrm>
            <a:off x="749808" y="2395728"/>
            <a:ext cx="2286000" cy="105156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1B7A7A"/>
                </a:solidFill>
                <a:latin typeface="Arial"/>
              </a:rPr>
              <a:t>Team data</a:t>
            </a:r>
          </a:p>
        </p:txBody>
      </p:sp>
      <p:sp>
        <p:nvSpPr>
          <p:cNvPr id="4" name="primary:shared-api"/>
          <p:cNvSpPr/>
          <p:nvPr/>
        </p:nvSpPr>
        <p:spPr>
          <a:xfrm>
            <a:off x="3675887" y="2240280"/>
            <a:ext cx="3063240" cy="137160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Shared platform · FastAPI + PostGIS</a:t>
            </a:r>
          </a:p>
        </p:txBody>
      </p:sp>
      <p:sp>
        <p:nvSpPr>
          <p:cNvPr id="5" name="diagram:admin-ui"/>
          <p:cNvSpPr/>
          <p:nvPr/>
        </p:nvSpPr>
        <p:spPr>
          <a:xfrm>
            <a:off x="7452360" y="1143000"/>
            <a:ext cx="4096512" cy="960120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Manage · Admin UI</a:t>
            </a:r>
          </a:p>
        </p:txBody>
      </p:sp>
      <p:sp>
        <p:nvSpPr>
          <p:cNvPr id="6" name="diagram:tile-api"/>
          <p:cNvSpPr/>
          <p:nvPr/>
        </p:nvSpPr>
        <p:spPr>
          <a:xfrm>
            <a:off x="7452360" y="2578608"/>
            <a:ext cx="4096512" cy="960120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Map · Vector tiles</a:t>
            </a:r>
          </a:p>
        </p:txBody>
      </p:sp>
      <p:sp>
        <p:nvSpPr>
          <p:cNvPr id="7" name="diagram:mcp"/>
          <p:cNvSpPr/>
          <p:nvPr/>
        </p:nvSpPr>
        <p:spPr>
          <a:xfrm>
            <a:off x="7452360" y="4014215"/>
            <a:ext cx="4096512" cy="960120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Ask · Natural-language client through MCP</a:t>
            </a:r>
          </a:p>
        </p:txBody>
      </p:sp>
      <p:cxnSp>
        <p:nvCxnSpPr>
          <p:cNvPr id="8" name="diagram:team-data-to-shared-platform"/>
          <p:cNvCxnSpPr/>
          <p:nvPr/>
        </p:nvCxnSpPr>
        <p:spPr>
          <a:xfrm>
            <a:off x="3035808" y="2921508"/>
            <a:ext cx="640079" cy="4572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9" name="diagram:shared-platform-to-admin-ui"/>
          <p:cNvCxnSpPr/>
          <p:nvPr/>
        </p:nvCxnSpPr>
        <p:spPr>
          <a:xfrm flipV="1">
            <a:off x="6739127" y="1623060"/>
            <a:ext cx="713233" cy="1303020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0" name="diagram:shared-platform-to-map"/>
          <p:cNvCxnSpPr/>
          <p:nvPr/>
        </p:nvCxnSpPr>
        <p:spPr>
          <a:xfrm>
            <a:off x="6739127" y="2926080"/>
            <a:ext cx="713233" cy="132588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1" name="diagram:shared-platform-to-ask"/>
          <p:cNvCxnSpPr/>
          <p:nvPr/>
        </p:nvCxnSpPr>
        <p:spPr>
          <a:xfrm>
            <a:off x="6739127" y="2926080"/>
            <a:ext cx="713233" cy="1568195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12" name="scope:tested-source"/>
          <p:cNvSpPr/>
          <p:nvPr/>
        </p:nvSpPr>
        <p:spPr>
          <a:xfrm>
            <a:off x="3675887" y="4224528"/>
            <a:ext cx="3063240" cy="65836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Self-hostable · open source</a:t>
            </a:r>
          </a:p>
        </p:txBody>
      </p:sp>
      <p:sp>
        <p:nvSpPr>
          <p:cNvPr id="13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Three user actions frame the discussion</a:t>
            </a:r>
          </a:p>
        </p:txBody>
      </p:sp>
      <p:sp>
        <p:nvSpPr>
          <p:cNvPr id="3" name="diagram:user-action-1"/>
          <p:cNvSpPr/>
          <p:nvPr/>
        </p:nvSpPr>
        <p:spPr>
          <a:xfrm>
            <a:off x="1188720" y="1828800"/>
            <a:ext cx="2359152" cy="84124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Host</a:t>
            </a:r>
          </a:p>
        </p:txBody>
      </p:sp>
      <p:sp>
        <p:nvSpPr>
          <p:cNvPr id="4" name="primary:action-explanation-1"/>
          <p:cNvSpPr txBox="1"/>
          <p:nvPr/>
        </p:nvSpPr>
        <p:spPr>
          <a:xfrm>
            <a:off x="640080" y="29443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Arial"/>
              </a:rPr>
              <a:t>Make the team's data available.</a:t>
            </a:r>
          </a:p>
        </p:txBody>
      </p:sp>
      <p:sp>
        <p:nvSpPr>
          <p:cNvPr id="5" name="diagram:user-action-2"/>
          <p:cNvSpPr/>
          <p:nvPr/>
        </p:nvSpPr>
        <p:spPr>
          <a:xfrm>
            <a:off x="4914900" y="1828800"/>
            <a:ext cx="2359152" cy="84124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See</a:t>
            </a:r>
          </a:p>
        </p:txBody>
      </p:sp>
      <p:sp>
        <p:nvSpPr>
          <p:cNvPr id="6" name="primary:action-explanation-2"/>
          <p:cNvSpPr txBox="1"/>
          <p:nvPr/>
        </p:nvSpPr>
        <p:spPr>
          <a:xfrm>
            <a:off x="4366260" y="29443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Arial"/>
              </a:rPr>
              <a:t>Share the same map.</a:t>
            </a:r>
          </a:p>
        </p:txBody>
      </p:sp>
      <p:sp>
        <p:nvSpPr>
          <p:cNvPr id="7" name="diagram:user-action-3"/>
          <p:cNvSpPr/>
          <p:nvPr/>
        </p:nvSpPr>
        <p:spPr>
          <a:xfrm>
            <a:off x="8641080" y="1828800"/>
            <a:ext cx="2359152" cy="841248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Ask</a:t>
            </a:r>
          </a:p>
        </p:txBody>
      </p:sp>
      <p:sp>
        <p:nvSpPr>
          <p:cNvPr id="8" name="primary:action-explanation-3"/>
          <p:cNvSpPr txBox="1"/>
          <p:nvPr/>
        </p:nvSpPr>
        <p:spPr>
          <a:xfrm>
            <a:off x="8092440" y="29443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Arial"/>
              </a:rPr>
              <a:t>Start a focused question.</a:t>
            </a:r>
          </a:p>
        </p:txBody>
      </p:sp>
      <p:cxnSp>
        <p:nvCxnSpPr>
          <p:cNvPr id="9" name="diagram:action-1-to-2"/>
          <p:cNvCxnSpPr/>
          <p:nvPr/>
        </p:nvCxnSpPr>
        <p:spPr>
          <a:xfrm>
            <a:off x="3547872" y="2249424"/>
            <a:ext cx="1367028" cy="0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0" name="diagram:action-2-to-3"/>
          <p:cNvCxnSpPr/>
          <p:nvPr/>
        </p:nvCxnSpPr>
        <p:spPr>
          <a:xfrm>
            <a:off x="7274052" y="2249424"/>
            <a:ext cx="1367028" cy="0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11" name="scope:user-workflow"/>
          <p:cNvSpPr/>
          <p:nvPr/>
        </p:nvSpPr>
        <p:spPr>
          <a:xfrm>
            <a:off x="640080" y="4572000"/>
            <a:ext cx="10911535" cy="82296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A simple way to describe a team's GIS work</a:t>
            </a:r>
          </a:p>
        </p:txBody>
      </p:sp>
      <p:sp>
        <p:nvSpPr>
          <p:cNvPr id="12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One deployment gives these actions a shared data path</a:t>
            </a:r>
          </a:p>
        </p:txBody>
      </p:sp>
      <p:sp>
        <p:nvSpPr>
          <p:cNvPr id="3" name="diagram:team-data"/>
          <p:cNvSpPr/>
          <p:nvPr/>
        </p:nvSpPr>
        <p:spPr>
          <a:xfrm>
            <a:off x="640080" y="2240280"/>
            <a:ext cx="2377440" cy="868680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Team data</a:t>
            </a:r>
          </a:p>
        </p:txBody>
      </p:sp>
      <p:sp>
        <p:nvSpPr>
          <p:cNvPr id="4" name="diagram:shared-data-layer"/>
          <p:cNvSpPr/>
          <p:nvPr/>
        </p:nvSpPr>
        <p:spPr>
          <a:xfrm>
            <a:off x="4160520" y="1965960"/>
            <a:ext cx="3840480" cy="1417320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Shared geo-base data layer</a:t>
            </a:r>
          </a:p>
        </p:txBody>
      </p:sp>
      <p:sp>
        <p:nvSpPr>
          <p:cNvPr id="5" name="diagram:entry-1"/>
          <p:cNvSpPr/>
          <p:nvPr/>
        </p:nvSpPr>
        <p:spPr>
          <a:xfrm>
            <a:off x="9235440" y="1325880"/>
            <a:ext cx="2286000" cy="74980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Host</a:t>
            </a:r>
          </a:p>
        </p:txBody>
      </p:sp>
      <p:sp>
        <p:nvSpPr>
          <p:cNvPr id="6" name="diagram:entry-2"/>
          <p:cNvSpPr/>
          <p:nvPr/>
        </p:nvSpPr>
        <p:spPr>
          <a:xfrm>
            <a:off x="9235440" y="2560320"/>
            <a:ext cx="2286000" cy="74980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See</a:t>
            </a:r>
          </a:p>
        </p:txBody>
      </p:sp>
      <p:sp>
        <p:nvSpPr>
          <p:cNvPr id="7" name="diagram:entry-3"/>
          <p:cNvSpPr/>
          <p:nvPr/>
        </p:nvSpPr>
        <p:spPr>
          <a:xfrm>
            <a:off x="9235440" y="3794760"/>
            <a:ext cx="2286000" cy="749808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Ask</a:t>
            </a:r>
          </a:p>
        </p:txBody>
      </p:sp>
      <p:cxnSp>
        <p:nvCxnSpPr>
          <p:cNvPr id="8" name="diagram:team-data-to-shared-layer"/>
          <p:cNvCxnSpPr/>
          <p:nvPr/>
        </p:nvCxnSpPr>
        <p:spPr>
          <a:xfrm>
            <a:off x="3017520" y="2674620"/>
            <a:ext cx="1143000" cy="0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cxnSp>
        <p:nvCxnSpPr>
          <p:cNvPr id="9" name="diagram:shared-layer-to-entry-1"/>
          <p:cNvCxnSpPr/>
          <p:nvPr/>
        </p:nvCxnSpPr>
        <p:spPr>
          <a:xfrm flipV="1">
            <a:off x="8001000" y="1700784"/>
            <a:ext cx="1234440" cy="973836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0" name="diagram:shared-layer-to-entry-2"/>
          <p:cNvCxnSpPr/>
          <p:nvPr/>
        </p:nvCxnSpPr>
        <p:spPr>
          <a:xfrm>
            <a:off x="8001000" y="2674620"/>
            <a:ext cx="1234440" cy="260604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1" name="diagram:shared-layer-to-entry-3"/>
          <p:cNvCxnSpPr/>
          <p:nvPr/>
        </p:nvCxnSpPr>
        <p:spPr>
          <a:xfrm>
            <a:off x="8001000" y="2674620"/>
            <a:ext cx="1234440" cy="1495044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12" name="scope:shared-path-caption"/>
          <p:cNvSpPr/>
          <p:nvPr/>
        </p:nvSpPr>
        <p:spPr>
          <a:xfrm>
            <a:off x="640080" y="4892040"/>
            <a:ext cx="10911535" cy="82296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One shared data layer · three practical entry points</a:t>
            </a:r>
          </a:p>
        </p:txBody>
      </p:sp>
      <p:sp>
        <p:nvSpPr>
          <p:cNvPr id="13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Host: Put the team's spatial data into the platform</a:t>
            </a:r>
          </a:p>
        </p:txBody>
      </p:sp>
      <p:pic>
        <p:nvPicPr>
          <p:cNvPr id="3" name="image:host-admin-ui" descr="naka-ku-uploa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54144"/>
            <a:ext cx="7543800" cy="4293679"/>
          </a:xfrm>
          <a:prstGeom prst="rect">
            <a:avLst/>
          </a:prstGeom>
          <a:ln w="6350">
            <a:solidFill>
              <a:srgbClr val="6B6B6B"/>
            </a:solidFill>
          </a:ln>
        </p:spPr>
      </p:pic>
      <p:sp>
        <p:nvSpPr>
          <p:cNvPr id="4" name="scope:host-marker"/>
          <p:cNvSpPr/>
          <p:nvPr/>
        </p:nvSpPr>
        <p:spPr>
          <a:xfrm>
            <a:off x="8549640" y="1234440"/>
            <a:ext cx="2999232" cy="65836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1B7A7A"/>
                </a:solidFill>
                <a:latin typeface="Arial"/>
              </a:rPr>
              <a:t>Host</a:t>
            </a:r>
          </a:p>
        </p:txBody>
      </p:sp>
      <p:sp>
        <p:nvSpPr>
          <p:cNvPr id="5" name="primary:feature-count"/>
          <p:cNvSpPr/>
          <p:nvPr/>
        </p:nvSpPr>
        <p:spPr>
          <a:xfrm>
            <a:off x="8549640" y="2331720"/>
            <a:ext cx="2999232" cy="1280160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500" b="1">
                <a:solidFill>
                  <a:srgbClr val="0F2A4A"/>
                </a:solidFill>
                <a:latin typeface="Arial"/>
              </a:rPr>
              <a:t>87 features</a:t>
            </a:r>
          </a:p>
        </p:txBody>
      </p:sp>
      <p:sp>
        <p:nvSpPr>
          <p:cNvPr id="6" name="scope:host-scope"/>
          <p:cNvSpPr/>
          <p:nvPr/>
        </p:nvSpPr>
        <p:spPr>
          <a:xfrm>
            <a:off x="8549640" y="4069080"/>
            <a:ext cx="2999232" cy="96012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One GeoJSON dataset</a:t>
            </a:r>
          </a:p>
        </p:txBody>
      </p:sp>
      <p:sp>
        <p:nvSpPr>
          <p:cNvPr id="7" name="caption:host-capture"/>
          <p:cNvSpPr txBox="1"/>
          <p:nvPr/>
        </p:nvSpPr>
        <p:spPr>
          <a:xfrm>
            <a:off x="640080" y="5532120"/>
            <a:ext cx="7543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6B6B"/>
                </a:solidFill>
                <a:latin typeface="Arial"/>
              </a:rPr>
              <a:t>Admin UI capture — File information after local GeoJSON import</a:t>
            </a:r>
          </a:p>
        </p:txBody>
      </p:sp>
      <p:sp>
        <p:nvSpPr>
          <p:cNvPr id="8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See: View the same data on a map</a:t>
            </a:r>
          </a:p>
        </p:txBody>
      </p:sp>
      <p:pic>
        <p:nvPicPr>
          <p:cNvPr id="3" name="image:map-preview" descr="naka-ku-til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99112"/>
            <a:ext cx="8229600" cy="4203743"/>
          </a:xfrm>
          <a:prstGeom prst="rect">
            <a:avLst/>
          </a:prstGeom>
          <a:ln w="6350">
            <a:solidFill>
              <a:srgbClr val="6B6B6B"/>
            </a:solidFill>
          </a:ln>
        </p:spPr>
      </p:pic>
      <p:sp>
        <p:nvSpPr>
          <p:cNvPr id="4" name="caption:map-preview"/>
          <p:cNvSpPr txBox="1"/>
          <p:nvPr/>
        </p:nvSpPr>
        <p:spPr>
          <a:xfrm>
            <a:off x="640080" y="5532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6B6B"/>
                </a:solidFill>
                <a:latin typeface="Arial"/>
              </a:rPr>
              <a:t>Map preview capture — the same 87 points in the Naka-ku extent</a:t>
            </a:r>
          </a:p>
        </p:txBody>
      </p:sp>
      <p:sp>
        <p:nvSpPr>
          <p:cNvPr id="5" name="scope:see-marker"/>
          <p:cNvSpPr/>
          <p:nvPr/>
        </p:nvSpPr>
        <p:spPr>
          <a:xfrm>
            <a:off x="9189720" y="1234440"/>
            <a:ext cx="2359152" cy="65836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1B7A7A"/>
                </a:solidFill>
                <a:latin typeface="Arial"/>
              </a:rPr>
              <a:t>See</a:t>
            </a:r>
          </a:p>
        </p:txBody>
      </p:sp>
      <p:sp>
        <p:nvSpPr>
          <p:cNvPr id="6" name="primary:same-data"/>
          <p:cNvSpPr/>
          <p:nvPr/>
        </p:nvSpPr>
        <p:spPr>
          <a:xfrm>
            <a:off x="9189720" y="2331720"/>
            <a:ext cx="2359152" cy="1234440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0F2A4A"/>
                </a:solidFill>
                <a:latin typeface="Arial"/>
              </a:rPr>
              <a:t>Same imported GeoJSON</a:t>
            </a:r>
          </a:p>
        </p:txBody>
      </p:sp>
      <p:sp>
        <p:nvSpPr>
          <p:cNvPr id="7" name="scope:see-scope"/>
          <p:cNvSpPr/>
          <p:nvPr/>
        </p:nvSpPr>
        <p:spPr>
          <a:xfrm>
            <a:off x="9189720" y="4069080"/>
            <a:ext cx="2359152" cy="96012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Same source extent</a:t>
            </a:r>
          </a:p>
        </p:txBody>
      </p:sp>
      <p:sp>
        <p:nvSpPr>
          <p:cNvPr id="8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Ask: Query the same data through a natural-language interface</a:t>
            </a:r>
          </a:p>
        </p:txBody>
      </p:sp>
      <p:pic>
        <p:nvPicPr>
          <p:cNvPr id="3" name="image:mcp-inspector" descr="mcp-tool-call-search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6" y="1115568"/>
            <a:ext cx="4731547" cy="4498848"/>
          </a:xfrm>
          <a:prstGeom prst="rect">
            <a:avLst/>
          </a:prstGeom>
          <a:ln w="6350">
            <a:solidFill>
              <a:srgbClr val="6B6B6B"/>
            </a:solidFill>
          </a:ln>
        </p:spPr>
      </p:pic>
      <p:sp>
        <p:nvSpPr>
          <p:cNvPr id="4" name="caption:mcp-inspector"/>
          <p:cNvSpPr txBox="1"/>
          <p:nvPr/>
        </p:nvSpPr>
        <p:spPr>
          <a:xfrm>
            <a:off x="640080" y="56875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6B6B"/>
                </a:solidFill>
                <a:latin typeface="Arial"/>
              </a:rPr>
              <a:t>Direct MCP Inspector capture — later verification, not the chat run</a:t>
            </a:r>
          </a:p>
        </p:txBody>
      </p:sp>
      <p:sp>
        <p:nvSpPr>
          <p:cNvPr id="5" name="scope:ask-marker"/>
          <p:cNvSpPr/>
          <p:nvPr/>
        </p:nvSpPr>
        <p:spPr>
          <a:xfrm>
            <a:off x="5989320" y="1188720"/>
            <a:ext cx="5559552" cy="621792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1B7A7A"/>
                </a:solidFill>
                <a:latin typeface="Arial"/>
              </a:rPr>
              <a:t>Ask</a:t>
            </a:r>
          </a:p>
        </p:txBody>
      </p:sp>
      <p:sp>
        <p:nvSpPr>
          <p:cNvPr id="6" name="primary:original-run"/>
          <p:cNvSpPr/>
          <p:nvPr/>
        </p:nvSpPr>
        <p:spPr>
          <a:xfrm>
            <a:off x="5989320" y="2011680"/>
            <a:ext cx="5559552" cy="96012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Original natural-language run — AI client selected MCP calls</a:t>
            </a:r>
          </a:p>
        </p:txBody>
      </p:sp>
      <p:sp>
        <p:nvSpPr>
          <p:cNvPr id="7" name="primary:returned-data"/>
          <p:cNvSpPr/>
          <p:nvPr/>
        </p:nvSpPr>
        <p:spPr>
          <a:xfrm>
            <a:off x="5989320" y="3401568"/>
            <a:ext cx="5559552" cy="109728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800" b="1">
                <a:solidFill>
                  <a:srgbClr val="1B7A7A"/>
                </a:solidFill>
                <a:latin typeface="Arial"/>
              </a:rPr>
              <a:t>Returned data — tested properties from the same dataset</a:t>
            </a:r>
          </a:p>
        </p:txBody>
      </p:sp>
      <p:sp>
        <p:nvSpPr>
          <p:cNvPr id="8" name="scope:workflow-scope"/>
          <p:cNvSpPr/>
          <p:nvPr/>
        </p:nvSpPr>
        <p:spPr>
          <a:xfrm>
            <a:off x="5989320" y="4937760"/>
            <a:ext cx="5559552" cy="84124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Focused question → existing operation</a:t>
            </a:r>
          </a:p>
        </p:txBody>
      </p:sp>
      <p:sp>
        <p:nvSpPr>
          <p:cNvPr id="9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The demonstration connects a team's data to its next question</a:t>
            </a:r>
          </a:p>
        </p:txBody>
      </p:sp>
      <p:sp>
        <p:nvSpPr>
          <p:cNvPr id="3" name="diagram:workflow-stage-1"/>
          <p:cNvSpPr/>
          <p:nvPr/>
        </p:nvSpPr>
        <p:spPr>
          <a:xfrm>
            <a:off x="914400" y="1572768"/>
            <a:ext cx="2880360" cy="93268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Own data</a:t>
            </a:r>
          </a:p>
        </p:txBody>
      </p:sp>
      <p:sp>
        <p:nvSpPr>
          <p:cNvPr id="4" name="primary:stage-explanation-1"/>
          <p:cNvSpPr txBox="1"/>
          <p:nvPr/>
        </p:nvSpPr>
        <p:spPr>
          <a:xfrm>
            <a:off x="640080" y="278892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22222"/>
                </a:solidFill>
                <a:latin typeface="Arial"/>
              </a:rPr>
              <a:t>Start from the team's file.</a:t>
            </a:r>
          </a:p>
        </p:txBody>
      </p:sp>
      <p:sp>
        <p:nvSpPr>
          <p:cNvPr id="5" name="diagram:workflow-stage-2"/>
          <p:cNvSpPr/>
          <p:nvPr/>
        </p:nvSpPr>
        <p:spPr>
          <a:xfrm>
            <a:off x="4640580" y="1572768"/>
            <a:ext cx="2880360" cy="932688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Shared view</a:t>
            </a:r>
          </a:p>
        </p:txBody>
      </p:sp>
      <p:sp>
        <p:nvSpPr>
          <p:cNvPr id="6" name="primary:stage-explanation-2"/>
          <p:cNvSpPr txBox="1"/>
          <p:nvPr/>
        </p:nvSpPr>
        <p:spPr>
          <a:xfrm>
            <a:off x="4366260" y="278892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22222"/>
                </a:solidFill>
                <a:latin typeface="Arial"/>
              </a:rPr>
              <a:t>Look at the same spatial context.</a:t>
            </a:r>
          </a:p>
        </p:txBody>
      </p:sp>
      <p:sp>
        <p:nvSpPr>
          <p:cNvPr id="7" name="diagram:workflow-stage-3"/>
          <p:cNvSpPr/>
          <p:nvPr/>
        </p:nvSpPr>
        <p:spPr>
          <a:xfrm>
            <a:off x="8366760" y="1572768"/>
            <a:ext cx="2880360" cy="932688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Next question</a:t>
            </a:r>
          </a:p>
        </p:txBody>
      </p:sp>
      <p:sp>
        <p:nvSpPr>
          <p:cNvPr id="8" name="primary:stage-explanation-3"/>
          <p:cNvSpPr txBox="1"/>
          <p:nvPr/>
        </p:nvSpPr>
        <p:spPr>
          <a:xfrm>
            <a:off x="8092440" y="278892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22222"/>
                </a:solidFill>
                <a:latin typeface="Arial"/>
              </a:rPr>
              <a:t>Ask about the data through the client.</a:t>
            </a:r>
          </a:p>
        </p:txBody>
      </p:sp>
      <p:cxnSp>
        <p:nvCxnSpPr>
          <p:cNvPr id="9" name="diagram:stage-1-to-2"/>
          <p:cNvCxnSpPr/>
          <p:nvPr/>
        </p:nvCxnSpPr>
        <p:spPr>
          <a:xfrm>
            <a:off x="3794760" y="2039112"/>
            <a:ext cx="845820" cy="0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0" name="diagram:stage-2-to-3"/>
          <p:cNvCxnSpPr/>
          <p:nvPr/>
        </p:nvCxnSpPr>
        <p:spPr>
          <a:xfrm>
            <a:off x="7520940" y="2039112"/>
            <a:ext cx="845820" cy="0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11" name="scope:workflow-interpretation"/>
          <p:cNvSpPr/>
          <p:nvPr/>
        </p:nvSpPr>
        <p:spPr>
          <a:xfrm>
            <a:off x="640080" y="4572000"/>
            <a:ext cx="10911535" cy="86868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A possible small-team pattern — not a measured productivity result</a:t>
            </a:r>
          </a:p>
        </p:txBody>
      </p:sp>
      <p:sp>
        <p:nvSpPr>
          <p:cNvPr id="12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One hosted dataset can support three small-team tasks</a:t>
            </a:r>
          </a:p>
        </p:txBody>
      </p:sp>
      <p:sp>
        <p:nvSpPr>
          <p:cNvPr id="3" name="primary:task-1"/>
          <p:cNvSpPr/>
          <p:nvPr/>
        </p:nvSpPr>
        <p:spPr>
          <a:xfrm>
            <a:off x="640080" y="1325880"/>
            <a:ext cx="10911535" cy="1024128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256032" rIns="256032"/>
          <a:lstStyle/>
          <a:p>
            <a:pPr algn="l"/>
            <a:r>
              <a:rPr sz="2000" b="1">
                <a:solidFill>
                  <a:srgbClr val="0F2A4A"/>
                </a:solidFill>
                <a:latin typeface="Arial"/>
              </a:rPr>
              <a:t>Keep the team's data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Host it as the starting point for the team's work.</a:t>
            </a:r>
          </a:p>
        </p:txBody>
      </p:sp>
      <p:sp>
        <p:nvSpPr>
          <p:cNvPr id="4" name="primary:task-2"/>
          <p:cNvSpPr/>
          <p:nvPr/>
        </p:nvSpPr>
        <p:spPr>
          <a:xfrm>
            <a:off x="640080" y="2606040"/>
            <a:ext cx="10911535" cy="1024128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256032" rIns="256032"/>
          <a:lstStyle/>
          <a:p>
            <a:pPr algn="l"/>
            <a:r>
              <a:rPr sz="2000" b="1">
                <a:solidFill>
                  <a:srgbClr val="0F2A4A"/>
                </a:solidFill>
                <a:latin typeface="Arial"/>
              </a:rPr>
              <a:t>See the same map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Give the team one shared spatial context.</a:t>
            </a:r>
          </a:p>
        </p:txBody>
      </p:sp>
      <p:sp>
        <p:nvSpPr>
          <p:cNvPr id="5" name="primary:task-3"/>
          <p:cNvSpPr/>
          <p:nvPr/>
        </p:nvSpPr>
        <p:spPr>
          <a:xfrm>
            <a:off x="640080" y="3886200"/>
            <a:ext cx="10911535" cy="102412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256032" rIns="256032"/>
          <a:lstStyle/>
          <a:p>
            <a:pPr algn="l"/>
            <a:r>
              <a:rPr sz="2000" b="1">
                <a:solidFill>
                  <a:srgbClr val="1B7A7A"/>
                </a:solidFill>
                <a:latin typeface="Arial"/>
              </a:rPr>
              <a:t>Ask the next question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Use the shared data to begin a focused inquiry.</a:t>
            </a:r>
          </a:p>
        </p:txBody>
      </p:sp>
      <p:sp>
        <p:nvSpPr>
          <p:cNvPr id="6" name="scope:value-boundary"/>
          <p:cNvSpPr/>
          <p:nvPr/>
        </p:nvSpPr>
        <p:spPr>
          <a:xfrm>
            <a:off x="640080" y="5303520"/>
            <a:ext cx="10911535" cy="65836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Interpretation from the demonstrated workflow — not a measured productivity result</a:t>
            </a:r>
          </a:p>
        </p:txBody>
      </p:sp>
      <p:sp>
        <p:nvSpPr>
          <p:cNvPr id="7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What to confirm before using geo-base</a:t>
            </a:r>
          </a:p>
        </p:txBody>
      </p:sp>
      <p:sp>
        <p:nvSpPr>
          <p:cNvPr id="3" name="primary:fit-question"/>
          <p:cNvSpPr txBox="1"/>
          <p:nvPr/>
        </p:nvSpPr>
        <p:spPr>
          <a:xfrm>
            <a:off x="640080" y="1097280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B7A7A"/>
                </a:solidFill>
                <a:latin typeface="Arial"/>
              </a:rPr>
              <a:t>Does this fit your team's work?</a:t>
            </a:r>
          </a:p>
        </p:txBody>
      </p:sp>
      <p:sp>
        <p:nvSpPr>
          <p:cNvPr id="4" name="diagram:fit-check-1"/>
          <p:cNvSpPr/>
          <p:nvPr/>
        </p:nvSpPr>
        <p:spPr>
          <a:xfrm>
            <a:off x="1234440" y="2148840"/>
            <a:ext cx="3154680" cy="1234440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  Data fit
Format · size · structure</a:t>
            </a:r>
          </a:p>
        </p:txBody>
      </p:sp>
      <p:sp>
        <p:nvSpPr>
          <p:cNvPr id="5" name="diagram:fit-check-2"/>
          <p:cNvSpPr/>
          <p:nvPr/>
        </p:nvSpPr>
        <p:spPr>
          <a:xfrm>
            <a:off x="4892040" y="2148840"/>
            <a:ext cx="3154680" cy="1234440"/>
          </a:xfrm>
          <a:prstGeom prst="round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  Workflow fit
Host · See · Ask</a:t>
            </a:r>
          </a:p>
        </p:txBody>
      </p:sp>
      <p:sp>
        <p:nvSpPr>
          <p:cNvPr id="6" name="diagram:fit-check-3"/>
          <p:cNvSpPr/>
          <p:nvPr/>
        </p:nvSpPr>
        <p:spPr>
          <a:xfrm>
            <a:off x="8549640" y="2148840"/>
            <a:ext cx="3154680" cy="1234440"/>
          </a:xfrm>
          <a:prstGeom prst="round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  Question fit
Focused requests first</a:t>
            </a:r>
          </a:p>
        </p:txBody>
      </p:sp>
      <p:cxnSp>
        <p:nvCxnSpPr>
          <p:cNvPr id="7" name="diagram:fit-1-to-2"/>
          <p:cNvCxnSpPr/>
          <p:nvPr/>
        </p:nvCxnSpPr>
        <p:spPr>
          <a:xfrm>
            <a:off x="4389120" y="2766060"/>
            <a:ext cx="502920" cy="0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8" name="diagram:fit-2-to-3"/>
          <p:cNvCxnSpPr/>
          <p:nvPr/>
        </p:nvCxnSpPr>
        <p:spPr>
          <a:xfrm>
            <a:off x="8046720" y="2766060"/>
            <a:ext cx="502920" cy="0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9" name="scope:fit-boundary"/>
          <p:cNvSpPr/>
          <p:nvPr/>
        </p:nvSpPr>
        <p:spPr>
          <a:xfrm>
            <a:off x="640080" y="4709160"/>
            <a:ext cx="10911535" cy="82296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Start with the tested scope, then verify your own use case</a:t>
            </a:r>
          </a:p>
        </p:txBody>
      </p:sp>
      <p:sp>
        <p:nvSpPr>
          <p:cNvPr id="10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Possible patterns for small teams</a:t>
            </a:r>
          </a:p>
        </p:txBody>
      </p:sp>
      <p:sp>
        <p:nvSpPr>
          <p:cNvPr id="3" name="scope:label"/>
          <p:cNvSpPr txBox="1"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7A7A"/>
                </a:solidFill>
                <a:latin typeface="Arial"/>
              </a:rPr>
              <a:t>Inferred possibilities — not measured deployments</a:t>
            </a:r>
          </a:p>
        </p:txBody>
      </p:sp>
      <p:sp>
        <p:nvSpPr>
          <p:cNvPr id="4" name="primary:pattern-1"/>
          <p:cNvSpPr/>
          <p:nvPr/>
        </p:nvSpPr>
        <p:spPr>
          <a:xfrm>
            <a:off x="640080" y="1993392"/>
            <a:ext cx="3456432" cy="1627632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100" b="1">
                <a:solidFill>
                  <a:srgbClr val="0F2A4A"/>
                </a:solidFill>
                <a:latin typeface="Arial"/>
              </a:rPr>
              <a:t>Municipal facility management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Possible use: keep facility data visible.</a:t>
            </a:r>
          </a:p>
        </p:txBody>
      </p:sp>
      <p:sp>
        <p:nvSpPr>
          <p:cNvPr id="5" name="primary:pattern-2"/>
          <p:cNvSpPr/>
          <p:nvPr/>
        </p:nvSpPr>
        <p:spPr>
          <a:xfrm>
            <a:off x="4366260" y="1993392"/>
            <a:ext cx="3456432" cy="1627632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100" b="1">
                <a:solidFill>
                  <a:srgbClr val="0F2A4A"/>
                </a:solidFill>
                <a:latin typeface="Arial"/>
              </a:rPr>
              <a:t>Field survey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Possible use: review collected points together.</a:t>
            </a:r>
          </a:p>
        </p:txBody>
      </p:sp>
      <p:sp>
        <p:nvSpPr>
          <p:cNvPr id="6" name="primary:pattern-3"/>
          <p:cNvSpPr/>
          <p:nvPr/>
        </p:nvSpPr>
        <p:spPr>
          <a:xfrm>
            <a:off x="8092440" y="1993392"/>
            <a:ext cx="3456432" cy="1627632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100" b="1">
                <a:solidFill>
                  <a:srgbClr val="1B7A7A"/>
                </a:solidFill>
                <a:latin typeface="Arial"/>
              </a:rPr>
              <a:t>Nonprofit or public-data work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Possible use: share a focused data view.</a:t>
            </a:r>
          </a:p>
        </p:txBody>
      </p:sp>
      <p:sp>
        <p:nvSpPr>
          <p:cNvPr id="7" name="scope:full-pattern"/>
          <p:cNvSpPr/>
          <p:nvPr/>
        </p:nvSpPr>
        <p:spPr>
          <a:xfrm>
            <a:off x="640080" y="4526280"/>
            <a:ext cx="10911535" cy="91440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Each pattern may use Host · See · Ask.</a:t>
            </a:r>
          </a:p>
        </p:txBody>
      </p:sp>
      <p:cxnSp>
        <p:nvCxnSpPr>
          <p:cNvPr id="8" name="diagram:pattern-1-to-full-flow"/>
          <p:cNvCxnSpPr/>
          <p:nvPr/>
        </p:nvCxnSpPr>
        <p:spPr>
          <a:xfrm>
            <a:off x="2368296" y="3621024"/>
            <a:ext cx="126744" cy="905256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9" name="diagram:pattern-2-to-full-flow"/>
          <p:cNvCxnSpPr/>
          <p:nvPr/>
        </p:nvCxnSpPr>
        <p:spPr>
          <a:xfrm>
            <a:off x="6094476" y="3621024"/>
            <a:ext cx="1371" cy="905256"/>
          </a:xfrm>
          <a:prstGeom prst="line">
            <a:avLst/>
          </a:prstGeom>
          <a:ln w="15875">
            <a:solidFill>
              <a:srgbClr val="0F2A4A"/>
            </a:solidFill>
            <a:tailEnd type="triangle" w="med" len="med"/>
          </a:ln>
        </p:spPr>
      </p:cxnSp>
      <p:cxnSp>
        <p:nvCxnSpPr>
          <p:cNvPr id="10" name="diagram:pattern-3-to-full-flow"/>
          <p:cNvCxnSpPr/>
          <p:nvPr/>
        </p:nvCxnSpPr>
        <p:spPr>
          <a:xfrm flipH="1">
            <a:off x="9696654" y="3621024"/>
            <a:ext cx="124002" cy="905256"/>
          </a:xfrm>
          <a:prstGeom prst="line">
            <a:avLst/>
          </a:prstGeom>
          <a:ln w="15875">
            <a:solidFill>
              <a:srgbClr val="1B7A7A"/>
            </a:solidFill>
            <a:tailEnd type="triangle" w="med" len="med"/>
          </a:ln>
        </p:spPr>
      </p:cxnSp>
      <p:sp>
        <p:nvSpPr>
          <p:cNvPr id="11" name="page-number:footer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slide"/>
          <p:cNvSpPr txBox="1"/>
          <p:nvPr/>
        </p:nvSpPr>
        <p:spPr>
          <a:xfrm>
            <a:off x="640080" y="32004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2A4A"/>
                </a:solidFill>
                <a:latin typeface="Arial"/>
              </a:rPr>
              <a:t>One shared data layer. Three practical ways to use it.</a:t>
            </a:r>
          </a:p>
        </p:txBody>
      </p:sp>
      <p:sp>
        <p:nvSpPr>
          <p:cNvPr id="3" name="primary:conclusion-flow"/>
          <p:cNvSpPr/>
          <p:nvPr/>
        </p:nvSpPr>
        <p:spPr>
          <a:xfrm>
            <a:off x="640080" y="1188720"/>
            <a:ext cx="5806440" cy="822960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sz="2400" b="1">
                <a:solidFill>
                  <a:srgbClr val="1B7A7A"/>
                </a:solidFill>
                <a:latin typeface="Arial"/>
              </a:rPr>
              <a:t>Host · See · Ask</a:t>
            </a:r>
          </a:p>
        </p:txBody>
      </p:sp>
      <p:sp>
        <p:nvSpPr>
          <p:cNvPr id="4" name="primary:conclusion"/>
          <p:cNvSpPr txBox="1"/>
          <p:nvPr/>
        </p:nvSpPr>
        <p:spPr>
          <a:xfrm>
            <a:off x="640080" y="2331720"/>
            <a:ext cx="5806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2A4A"/>
                </a:solidFill>
                <a:latin typeface="Arial"/>
              </a:rPr>
              <a:t>A focused, self-hostable open-source platform for small teams</a:t>
            </a:r>
          </a:p>
        </p:txBody>
      </p:sp>
      <p:sp>
        <p:nvSpPr>
          <p:cNvPr id="5" name="scope:tested-scope"/>
          <p:cNvSpPr/>
          <p:nvPr/>
        </p:nvSpPr>
        <p:spPr>
          <a:xfrm>
            <a:off x="640080" y="3493008"/>
            <a:ext cx="5806440" cy="841248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46304" rIns="146304" tIns="73152" bIns="73152"/>
          <a:lstStyle/>
          <a:p>
            <a:pPr algn="ctr"/>
            <a:r>
              <a:rPr sz="1600" b="1">
                <a:solidFill>
                  <a:srgbClr val="1B7A7A"/>
                </a:solidFill>
                <a:latin typeface="Arial"/>
              </a:rPr>
              <a:t>One shared data layer → three practical entry points</a:t>
            </a:r>
          </a:p>
        </p:txBody>
      </p:sp>
      <p:sp>
        <p:nvSpPr>
          <p:cNvPr id="6" name="primary:thanks"/>
          <p:cNvSpPr txBox="1"/>
          <p:nvPr/>
        </p:nvSpPr>
        <p:spPr>
          <a:xfrm>
            <a:off x="640080" y="4645152"/>
            <a:ext cx="5806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B7A7A"/>
                </a:solidFill>
                <a:latin typeface="Arial"/>
              </a:rPr>
              <a:t>Thank you · Q&amp;A</a:t>
            </a:r>
          </a:p>
        </p:txBody>
      </p:sp>
      <p:pic>
        <p:nvPicPr>
          <p:cNvPr id="7" name="image:repository-qr" descr="qr-repos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115568"/>
            <a:ext cx="2423160" cy="2423160"/>
          </a:xfrm>
          <a:prstGeom prst="rect">
            <a:avLst/>
          </a:prstGeom>
          <a:ln w="6350">
            <a:solidFill>
              <a:srgbClr val="6B6B6B"/>
            </a:solidFill>
          </a:ln>
        </p:spPr>
      </p:pic>
      <p:sp>
        <p:nvSpPr>
          <p:cNvPr id="8" name="primary:repository"/>
          <p:cNvSpPr/>
          <p:nvPr/>
        </p:nvSpPr>
        <p:spPr>
          <a:xfrm>
            <a:off x="6812280" y="3703320"/>
            <a:ext cx="4736592" cy="896112"/>
          </a:xfrm>
          <a:prstGeom prst="roundRect">
            <a:avLst/>
          </a:prstGeom>
          <a:solidFill>
            <a:srgbClr val="F3F5F6"/>
          </a:solidFill>
          <a:ln>
            <a:solidFill>
              <a:srgbClr val="1B7A7A"/>
            </a:solidFill>
          </a:ln>
        </p:spPr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1B7A7A"/>
                </a:solidFill>
                <a:latin typeface="Arial"/>
              </a:rPr>
              <a:t>Repository</a:t>
            </a:r>
          </a:p>
          <a:p>
            <a:pPr>
              <a:spcBef>
                <a:spcPts val="7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github.com/mopinfish/geo-base</a:t>
            </a:r>
          </a:p>
        </p:txBody>
      </p:sp>
      <p:sp>
        <p:nvSpPr>
          <p:cNvPr id="9" name="primary:contact"/>
          <p:cNvSpPr/>
          <p:nvPr/>
        </p:nvSpPr>
        <p:spPr>
          <a:xfrm>
            <a:off x="6812280" y="4754880"/>
            <a:ext cx="4736592" cy="896112"/>
          </a:xfrm>
          <a:prstGeom prst="roundRect">
            <a:avLst/>
          </a:prstGeom>
          <a:solidFill>
            <a:srgbClr val="F3F5F6"/>
          </a:solidFill>
          <a:ln>
            <a:solidFill>
              <a:srgbClr val="0F2A4A"/>
            </a:solidFill>
          </a:ln>
        </p:spPr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0F2A4A"/>
                </a:solidFill>
                <a:latin typeface="Arial"/>
              </a:rPr>
              <a:t>Contact</a:t>
            </a:r>
          </a:p>
          <a:p>
            <a:pPr>
              <a:spcBef>
                <a:spcPts val="700"/>
              </a:spcBef>
            </a:pPr>
            <a:r>
              <a:rPr sz="1800" b="0">
                <a:solidFill>
                  <a:srgbClr val="222222"/>
                </a:solidFill>
                <a:latin typeface="Arial"/>
              </a:rPr>
              <a:t>noboru.otsuka@geolonia.com</a:t>
            </a:r>
          </a:p>
        </p:txBody>
      </p:sp>
      <p:sp>
        <p:nvSpPr>
          <p:cNvPr id="10" name="attribution:license"/>
          <p:cNvSpPr txBox="1"/>
          <p:nvPr/>
        </p:nvSpPr>
        <p:spPr>
          <a:xfrm>
            <a:off x="640080" y="5742432"/>
            <a:ext cx="1091153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</a:rPr>
              <a:t>出典：国土地理院ウェブサイト（http://www.gsi.go.jp/bousaichiri/hinanbasho.html）</a:t>
            </a:r>
          </a:p>
          <a:p>
            <a:r>
              <a:rPr sz="1400" b="0">
                <a:solidFill>
                  <a:srgbClr val="6B6B6B"/>
                </a:solidFill>
                <a:latin typeface="Arial"/>
              </a:rPr>
              <a:t>加工：「指定緊急避難場所データ」（国土地理院）（http://www.gsi.go.jp/bousaichiri/hinanbasho.html）を AIGID が加工して作成</a:t>
            </a:r>
          </a:p>
          <a:p>
            <a:r>
              <a:rPr sz="1400" b="0">
                <a:solidFill>
                  <a:srgbClr val="6B6B6B"/>
                </a:solidFill>
                <a:latin typeface="Arial"/>
              </a:rPr>
              <a:t>上記データから広島市中区のフィーチャのみを抽出して使用。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/>
  <dcterms:created xsi:type="dcterms:W3CDTF"/>
  <dcterms:modified xsi:type="dcterms:W3CDTF"/>
  <cp:category/>
</cp:coreProperties>
</file>